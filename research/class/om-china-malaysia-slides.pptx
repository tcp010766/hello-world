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63d780a-fb5c-395e-d066-22c93ac86cad}">
          <p14:sldIdLst>
            <p14:sldId id="256"/>
            <p14:sldId id="257"/>
            <p14:sldId id="258"/>
          </p14:sldIdLst>
        </p14:section>
        <p14:section name="Session 1: Why Malaysia" id="{d5eddd87-9ad8-8ff4-e717-f775c9c8e13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ession 2: Trade-remedy trap" id="{de5f249c-8924-0a98-7250-8ee8cc7b8968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Session 3: Geely × Proton" id="{16a23d76-f681-7a12-9dfc-a0acb40ef04b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Wrap-up" id="{5b488949-3eeb-2c9a-100f-007528c18131}">
          <p14:sldIdLst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Units sold, thousands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(000 units)</c:v>
                </c:pt>
              </c:strCache>
            </c:strRef>
          </c:tx>
          <c:spPr>
            <a:solidFill>
              <a:srgbClr val="0F717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2017†</c:v>
                  </c:pt>
                  <c:pt idx="4">
                    <c:v>2018†</c:v>
                  </c:pt>
                  <c:pt idx="5">
                    <c:v>2019†</c:v>
                  </c:pt>
                  <c:pt idx="6">
                    <c:v>2020†</c:v>
                  </c:pt>
                  <c:pt idx="7">
                    <c:v>2022</c:v>
                  </c:pt>
                  <c:pt idx="8">
                    <c:v>2023†</c:v>
                  </c:pt>
                  <c:pt idx="9">
                    <c:v>2025</c:v>
                  </c:pt>
                  <c:pt idx="10">
                    <c:v>2026 YTD Sep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115.8</c:v>
                </c:pt>
                <c:pt idx="1">
                  <c:v>102.2</c:v>
                </c:pt>
                <c:pt idx="2">
                  <c:v>72.3</c:v>
                </c:pt>
                <c:pt idx="3">
                  <c:v>70</c:v>
                </c:pt>
                <c:pt idx="4">
                  <c:v>65</c:v>
                </c:pt>
                <c:pt idx="5">
                  <c:v>100</c:v>
                </c:pt>
                <c:pt idx="6">
                  <c:v>109</c:v>
                </c:pt>
                <c:pt idx="7">
                  <c:v>141.4</c:v>
                </c:pt>
                <c:pt idx="8">
                  <c:v>154</c:v>
                </c:pt>
                <c:pt idx="9">
                  <c:v>158</c:v>
                </c:pt>
                <c:pt idx="10">
                  <c:v>160.9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C2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F9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6350" cap="flat">
              <a:solidFill>
                <a:srgbClr val="DDE5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F9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overview. Materials compiled October 2026; verify figures marked † before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aloud; return to them in the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Pre-reads: report §1–2 and §5 for Session 1; §3.1 and §4 for Session 2; full case study for Session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3–4 students. Collect answers on the board under cost / tariffs / customers / policy; these become the three waves.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each wave added to, rather than replaced, the previous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 money often arrives via Singapore and Hong Kong vehicles, so official China figures understate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factor is unique to Malaysia vs Vietnam/Thailand. Usually: neutrality + Chinese-speaking networks + semiconductor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the session discussion: no, the sectors do not move for the same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facility location: factor scores change over the life of a plant.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weights and scores. Students compute weighted scores, then run sensitivity on the tariff and raw-material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assembly-only relocation is followed by a trade remedy within about 3–5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MITI position: transhipment is legal; abusing certificates of origin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numbers. State the assumption that duty is charged on ex-works value and that AD/CVD stacks on top of the reciprocal tariff.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mark each step China (CN) or Malaysia (MY) for EVE-style and for solar-style relocations, then discuss which pattern survives an origin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as a group lowers set-up cost, logistics cost and origin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as think-pair-share; 5 minutes per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class argue before revealing outcomes. Prompt: what does Proton lack that cash cannot buy?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Clever because: low cash, high capability; minority ownership defuses nationalist objections; balance sheet cleaned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 exercise: rank these by impact before showing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marked † are approximate and should be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marked † are approximate (not re-verified). 2021 and 2024 omitted because they were not verified in this research. 2026 is January–September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numbers would a Malaysian policymaker care about most? Which would Geely?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500k ambition is an export bet; 2025 exports were about 6,000. Set up Exercise D from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to seed the debate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Illustrative. Students use T_n = T_1 × n^b, with b = log(0.9)/log(2).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Illustrative. Break-even = fixed cost / contribution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the class. 10 minutes prep, 3 minutes per side, 5 minutes rebuttal, then vote.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lesson back to the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Suitable for student projects, theses or faculty research. Data sources listed in the teaching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source lists are in the report and case study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Title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Session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Title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China → Malaysia supply-chain shift · OM module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产业链转移: China → Malaysia, 2015–2026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Batteries, EVs, specialty chemicals and data centres, with a Geely × Proton case study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Operations Management module · 3 sessions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4" name="marker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3716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Location and network design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13716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Apply facility-location and global-network frameworks to a real relocation decision</a:t>
            </a:r>
            <a:endParaRPr lang="en-US" sz="1600" dirty="0"/>
          </a:p>
        </p:txBody>
      </p:sp>
      <p:sp>
        <p:nvSpPr>
          <p:cNvPr id="8" name="marker 2"/>
          <p:cNvSpPr/>
          <p:nvPr/>
        </p:nvSpPr>
        <p:spPr>
          <a:xfrm>
            <a:off x="548640" y="24231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331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 diversification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23317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Separate geographic diversification from ownership, input and technology dependence</a:t>
            </a:r>
            <a:endParaRPr lang="en-US" sz="1600" dirty="0"/>
          </a:p>
        </p:txBody>
      </p:sp>
      <p:sp>
        <p:nvSpPr>
          <p:cNvPr id="12" name="marker 3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Turnaround levers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120640" y="32918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Analyse technology transfer, learning curves and supplier development</a:t>
            </a:r>
            <a:endParaRPr lang="en-US" sz="1600" dirty="0"/>
          </a:p>
        </p:txBody>
      </p:sp>
      <p:sp>
        <p:nvSpPr>
          <p:cNvPr id="16" name="marker 4"/>
          <p:cNvSpPr/>
          <p:nvPr/>
        </p:nvSpPr>
        <p:spPr>
          <a:xfrm>
            <a:off x="548640" y="4343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251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Cost and break-even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42519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landed-cost and break-even models with tariffs, origin rules and deadlines</a:t>
            </a:r>
            <a:endParaRPr lang="en-US" sz="1600" dirty="0"/>
          </a:p>
        </p:txBody>
      </p:sp>
      <p:sp>
        <p:nvSpPr>
          <p:cNvPr id="20" name="marker 5"/>
          <p:cNvSpPr/>
          <p:nvPr/>
        </p:nvSpPr>
        <p:spPr>
          <a:xfrm>
            <a:off x="548640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5212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Geopolitical risk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120640" y="52120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Assess trade remedies, export controls and infrastructure limits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roadmap</a:t>
            </a:r>
            <a:endParaRPr lang="en-US" sz="3200" dirty="0"/>
          </a:p>
        </p:txBody>
      </p:sp>
      <p:sp>
        <p:nvSpPr>
          <p:cNvPr id="4" name="session card 1"/>
          <p:cNvSpPr/>
          <p:nvPr/>
        </p:nvSpPr>
        <p:spPr>
          <a:xfrm>
            <a:off x="54864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5" name="marker 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Session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Malaysia, and why now?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Three waves of relocation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Pull factors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Four sectors compared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Exercise A: factor rating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577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Pre-read: report §1–2, §5</a:t>
            </a:r>
            <a:endParaRPr lang="en-US" sz="1200" dirty="0"/>
          </a:p>
        </p:txBody>
      </p:sp>
      <p:sp>
        <p:nvSpPr>
          <p:cNvPr id="11" name="session card 2"/>
          <p:cNvSpPr/>
          <p:nvPr/>
        </p:nvSpPr>
        <p:spPr>
          <a:xfrm>
            <a:off x="429768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2" name="marker 2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262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Session 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trade-remedy trap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7432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Solar precedent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 tariff rules today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Exercise B: landed cost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Substantial transformation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Battery cluster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5577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Pre-read: report §3.1, §4</a:t>
            </a:r>
            <a:endParaRPr lang="en-US" sz="1200" dirty="0"/>
          </a:p>
        </p:txBody>
      </p:sp>
      <p:sp>
        <p:nvSpPr>
          <p:cNvPr id="18" name="session card 3"/>
          <p:cNvSpPr/>
          <p:nvPr/>
        </p:nvSpPr>
        <p:spPr>
          <a:xfrm>
            <a:off x="804672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9" name="marker 3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75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Session 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Geely × Proton turnaround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27432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Before and after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Deal structure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Turnaround levers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Exercises C and 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Debate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5577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Pre-read: full case study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Session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Why Malaysia, and why now?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Opening question</a:t>
            </a:r>
            <a:endParaRPr lang="en-US" sz="3200" dirty="0"/>
          </a:p>
        </p:txBody>
      </p:sp>
      <p:sp>
        <p:nvSpPr>
          <p:cNvPr id="4" name="question panel"/>
          <p:cNvSpPr/>
          <p:nvPr/>
        </p:nvSpPr>
        <p:spPr>
          <a:xfrm>
            <a:off x="1097280" y="1828800"/>
            <a:ext cx="996696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“If China is cheaper and more capable, why are Chinese firms building factories in Malaysia?”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297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Sort the answers on the board: cost · tariffs and trade rules · customers · host-country policy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waves of relocation</a:t>
            </a:r>
            <a:endParaRPr lang="en-US" sz="3200" dirty="0"/>
          </a:p>
        </p:txBody>
      </p:sp>
      <p:sp>
        <p:nvSpPr>
          <p:cNvPr id="4" name="timeline"/>
          <p:cNvSpPr/>
          <p:nvPr/>
        </p:nvSpPr>
        <p:spPr>
          <a:xfrm>
            <a:off x="914400" y="1874520"/>
            <a:ext cx="103327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" name="marker 1"/>
          <p:cNvSpPr/>
          <p:nvPr/>
        </p:nvSpPr>
        <p:spPr>
          <a:xfrm>
            <a:off x="731520" y="157276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45920"/>
            <a:ext cx="13716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" rIns="1016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2013–2017</a:t>
            </a:r>
            <a:endParaRPr lang="en-US" sz="1800" dirty="0"/>
          </a:p>
        </p:txBody>
      </p:sp>
      <p:sp>
        <p:nvSpPr>
          <p:cNvPr id="8" name="card Cost and BRI overflow"/>
          <p:cNvSpPr/>
          <p:nvPr/>
        </p:nvSpPr>
        <p:spPr>
          <a:xfrm>
            <a:off x="548640" y="246888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Cost and BRI overflow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01752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Driver: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Chinese overcapacity, Belt and Road financing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moved: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Steel (Alliance Steel, MCKIP), solar cells and modules, industrial parks</a:t>
            </a:r>
            <a:endParaRPr lang="en-US" sz="1600" dirty="0"/>
          </a:p>
        </p:txBody>
      </p:sp>
      <p:sp>
        <p:nvSpPr>
          <p:cNvPr id="11" name="marker 2"/>
          <p:cNvSpPr/>
          <p:nvPr/>
        </p:nvSpPr>
        <p:spPr>
          <a:xfrm>
            <a:off x="4480560" y="157276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8056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1645920"/>
            <a:ext cx="13716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" rIns="1016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2018–2022</a:t>
            </a:r>
            <a:endParaRPr lang="en-US" sz="1800" dirty="0"/>
          </a:p>
        </p:txBody>
      </p:sp>
      <p:sp>
        <p:nvSpPr>
          <p:cNvPr id="14" name="card Tariff evasion → hedging"/>
          <p:cNvSpPr/>
          <p:nvPr/>
        </p:nvSpPr>
        <p:spPr>
          <a:xfrm>
            <a:off x="4297680" y="246888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8056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Tariff evasion → hedging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01752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Driver: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 Section 301 tariffs, COVID supply shocks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moved: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Final assembly for US-bound goods; electronics, solar, auto parts</a:t>
            </a:r>
            <a:endParaRPr lang="en-US" sz="1600" dirty="0"/>
          </a:p>
        </p:txBody>
      </p:sp>
      <p:sp>
        <p:nvSpPr>
          <p:cNvPr id="17" name="marker 3"/>
          <p:cNvSpPr/>
          <p:nvPr/>
        </p:nvSpPr>
        <p:spPr>
          <a:xfrm>
            <a:off x="8229600" y="157276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0" y="1572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1645920"/>
            <a:ext cx="137160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" rIns="1016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2023–2026</a:t>
            </a:r>
            <a:endParaRPr lang="en-US" sz="1800" dirty="0"/>
          </a:p>
        </p:txBody>
      </p:sp>
      <p:sp>
        <p:nvSpPr>
          <p:cNvPr id="20" name="card Strategic localisation"/>
          <p:cNvSpPr/>
          <p:nvPr/>
        </p:nvSpPr>
        <p:spPr>
          <a:xfrm>
            <a:off x="8046720" y="246888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Strategic localisation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301752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Driver: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US/EU de-risking, FEOC rules, chip export controls, NIMP 2030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moved: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Battery cells and materials, EV assembly, hyperscale data centres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Headline numbers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RM426.7bn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Malaysia approved investment, 2025 (record; foreign RM207.1bn)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RM23.4bn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From China in 1H2025, #2 foreign source after Singapore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RM4.2bn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Chinese manufacturing approvals in Penang alone, 2025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GW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Johor data-centre pipeline, mid-2025 (~580 MW live)</a:t>
            </a:r>
            <a:endParaRPr lang="en-US" sz="1400" dirty="0"/>
          </a:p>
        </p:txBody>
      </p:sp>
      <p:sp>
        <p:nvSpPr>
          <p:cNvPr id="12" name="card Teaching point: approvals are not capacity"/>
          <p:cNvSpPr/>
          <p:nvPr/>
        </p:nvSpPr>
        <p:spPr>
          <a:xfrm>
            <a:off x="548640" y="4023360"/>
            <a:ext cx="110642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41605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Teaching point: approvals are not capacity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57200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RM17.9bn in Chinese manufacturing approvals (2023 to 1H2024), only about 49% of projects (RM3.8bn) had been realised. Ask students what they would measure instead: realised capacity, local content, local engineering headcount, supplier links.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Six pull factors</a:t>
            </a:r>
            <a:endParaRPr lang="en-US" sz="3200" dirty="0"/>
          </a:p>
        </p:txBody>
      </p:sp>
      <p:sp>
        <p:nvSpPr>
          <p:cNvPr id="4" name="card Geopolitical neutrality"/>
          <p:cNvSpPr/>
          <p:nvPr/>
        </p:nvSpPr>
        <p:spPr>
          <a:xfrm>
            <a:off x="548640" y="137160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Geopolitical neutrality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Friendly with both Washington and Beijing; credible base for serving Western customers</a:t>
            </a:r>
            <a:endParaRPr lang="en-US" sz="1600" dirty="0"/>
          </a:p>
        </p:txBody>
      </p:sp>
      <p:sp>
        <p:nvSpPr>
          <p:cNvPr id="7" name="card Electronics ecosystem"/>
          <p:cNvSpPr/>
          <p:nvPr/>
        </p:nvSpPr>
        <p:spPr>
          <a:xfrm>
            <a:off x="4297680" y="137160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8056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Electronics ecosystem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9202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Penang: 50 years of back-end semiconductor work, skilled technicians, suppliers</a:t>
            </a:r>
            <a:endParaRPr lang="en-US" sz="1600" dirty="0"/>
          </a:p>
        </p:txBody>
      </p:sp>
      <p:sp>
        <p:nvSpPr>
          <p:cNvPr id="10" name="card Business networks"/>
          <p:cNvSpPr/>
          <p:nvPr/>
        </p:nvSpPr>
        <p:spPr>
          <a:xfrm>
            <a:off x="8046720" y="137160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Business networks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19202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Large ethnic-Chinese community and Mandarin-speaking managers cut set-up cost</a:t>
            </a:r>
            <a:endParaRPr lang="en-US" sz="1600" dirty="0"/>
          </a:p>
        </p:txBody>
      </p:sp>
      <p:sp>
        <p:nvSpPr>
          <p:cNvPr id="13" name="card Land, power, water"/>
          <p:cNvSpPr/>
          <p:nvPr/>
        </p:nvSpPr>
        <p:spPr>
          <a:xfrm>
            <a:off x="548640" y="379476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Land, power, water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3434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Cheap industrial land and utilities, until 2025</a:t>
            </a:r>
            <a:endParaRPr lang="en-US" sz="1600" dirty="0"/>
          </a:p>
        </p:txBody>
      </p:sp>
      <p:sp>
        <p:nvSpPr>
          <p:cNvPr id="16" name="card Policy pull"/>
          <p:cNvSpPr/>
          <p:nvPr/>
        </p:nvSpPr>
        <p:spPr>
          <a:xfrm>
            <a:off x="4297680" y="379476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8056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Policy pull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43434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NIMP 2030, NETR, semiconductor strategy, time-limited EV duty exemptions, twin parks</a:t>
            </a:r>
            <a:endParaRPr lang="en-US" sz="1600" dirty="0"/>
          </a:p>
        </p:txBody>
      </p:sp>
      <p:sp>
        <p:nvSpPr>
          <p:cNvPr id="19" name="card Market access"/>
          <p:cNvSpPr/>
          <p:nvPr/>
        </p:nvSpPr>
        <p:spPr>
          <a:xfrm>
            <a:off x="8046720" y="3794760"/>
            <a:ext cx="3474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Market access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3434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RCEP cumulation; right-hand-drive market opens ASEAN, UK, Australia, Japan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sectors, four different reasons to move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926080"/>
                <a:gridCol w="28346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Main driver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Typical mover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Depth of shift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Batteries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Tariffs, FEOC, ESS demand in US/EU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EVE, CosMX, Putailai, Capchem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Cells + materials clustering in Kedah/Johor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EVs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Duty-exemption deadlines, RHD export hub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Geely/Proton, BYD, Chery, GWM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CBU → CKD → local parts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Specialty chemicals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Feedstock (Petronas), battery chemicals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Rongsheng (pledge), Rianlon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Least advanced; slow and selective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Data centres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Customer location, compute access, Singapore pause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GDS/DayOne, ByteDance-linked, Alibaba, Huawei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Largest Chinese DC cluster outside China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Location advantages decay: Johor data centres</a:t>
            </a:r>
            <a:endParaRPr lang="en-US" sz="3200" dirty="0"/>
          </a:p>
        </p:txBody>
      </p:sp>
      <p:sp>
        <p:nvSpPr>
          <p:cNvPr id="4" name="marker 1"/>
          <p:cNvSpPr/>
          <p:nvPr/>
        </p:nvSpPr>
        <p:spPr>
          <a:xfrm>
            <a:off x="128016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2801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2019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Singapore pauses new data centres; demand spills to Johor</a:t>
            </a:r>
            <a:endParaRPr lang="en-US" sz="1400" dirty="0"/>
          </a:p>
        </p:txBody>
      </p:sp>
      <p:sp>
        <p:nvSpPr>
          <p:cNvPr id="8" name="marker 2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2021–23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2697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GDS, DC-Science, Chinese clouds build early</a:t>
            </a:r>
            <a:endParaRPr lang="en-US" sz="1400" dirty="0"/>
          </a:p>
        </p:txBody>
      </p:sp>
      <p:sp>
        <p:nvSpPr>
          <p:cNvPr id="12" name="marker 3"/>
          <p:cNvSpPr/>
          <p:nvPr/>
        </p:nvSpPr>
        <p:spPr>
          <a:xfrm>
            <a:off x="57607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60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2023–25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2697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boom; pipeline nearly doubles to 5.8 GW</a:t>
            </a:r>
            <a:endParaRPr lang="en-US" sz="1400" dirty="0"/>
          </a:p>
        </p:txBody>
      </p:sp>
      <p:sp>
        <p:nvSpPr>
          <p:cNvPr id="16" name="marker 4"/>
          <p:cNvSpPr/>
          <p:nvPr/>
        </p:nvSpPr>
        <p:spPr>
          <a:xfrm>
            <a:off x="800100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01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Jul 2025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2697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AI-chip export permits; power tariffs +14%</a:t>
            </a:r>
            <a:endParaRPr lang="en-US" sz="1400" dirty="0"/>
          </a:p>
        </p:txBody>
      </p:sp>
      <p:sp>
        <p:nvSpPr>
          <p:cNvPr id="20" name="marker 5"/>
          <p:cNvSpPr/>
          <p:nvPr/>
        </p:nvSpPr>
        <p:spPr>
          <a:xfrm>
            <a:off x="10241280" y="15544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2412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50976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Nov 2025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509760" y="2697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Drought: water-cooled expansions paused ~18 months</a:t>
            </a:r>
            <a:endParaRPr lang="en-US" sz="1400" dirty="0"/>
          </a:p>
        </p:txBody>
      </p:sp>
      <p:sp>
        <p:nvSpPr>
          <p:cNvPr id="24" name="question panel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How should a data-centre operator change its site-selection model after Johor?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Exercise A: factor-rating location model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Malaysia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Vietnam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Thailand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Indonesia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Labour cost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0.10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Skilled technicians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0.15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Power cost and reliability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0.15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Tariff and origin exposure to the US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0.20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Supplier ecosystem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0.15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Political neutrality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0.10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Raw materials (nickel)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0.15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</a:tbl>
          </a:graphicData>
        </a:graphic>
      </p:graphicFrame>
      <p:sp>
        <p:nvSpPr>
          <p:cNvPr id="5" name="card Tasks"/>
          <p:cNvSpPr/>
          <p:nvPr/>
        </p:nvSpPr>
        <p:spPr>
          <a:xfrm>
            <a:off x="8321040" y="1280160"/>
            <a:ext cx="3291840" cy="36576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50392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Tasks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182880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Compute weighted scores for each country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Which country wins, and why?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Sensitivity: change the tariff and raw-material weights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does the model leave out?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57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Scores 1–10, illustrative. A new battery-cell plant serving US and EU customers.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Session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trade-remedy trap: solar and batteries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solar precedent</a:t>
            </a:r>
            <a:endParaRPr lang="en-US" sz="3200" dirty="0"/>
          </a:p>
        </p:txBody>
      </p:sp>
      <p:sp>
        <p:nvSpPr>
          <p:cNvPr id="4" name="marker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371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2012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1371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 and EU duties on Chinese solar; makers move cells and modules to Malaysia, Vietnam, Thailand, Cambodia</a:t>
            </a:r>
            <a:endParaRPr lang="en-US" sz="1500" dirty="0"/>
          </a:p>
        </p:txBody>
      </p:sp>
      <p:sp>
        <p:nvSpPr>
          <p:cNvPr id="8" name="marker 2"/>
          <p:cNvSpPr/>
          <p:nvPr/>
        </p:nvSpPr>
        <p:spPr>
          <a:xfrm>
            <a:off x="548640" y="2560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4688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2022–23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 finds circumvention; two-year duty moratorium</a:t>
            </a:r>
            <a:endParaRPr lang="en-US" sz="1500" dirty="0"/>
          </a:p>
        </p:txBody>
      </p:sp>
      <p:sp>
        <p:nvSpPr>
          <p:cNvPr id="12" name="marker 3"/>
          <p:cNvSpPr/>
          <p:nvPr/>
        </p:nvSpPr>
        <p:spPr>
          <a:xfrm>
            <a:off x="548640" y="3657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566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2024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3566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New AD/CVD cases on all four countries</a:t>
            </a:r>
            <a:endParaRPr lang="en-US" sz="1500" dirty="0"/>
          </a:p>
        </p:txBody>
      </p:sp>
      <p:sp>
        <p:nvSpPr>
          <p:cNvPr id="16" name="marker 4"/>
          <p:cNvSpPr/>
          <p:nvPr/>
        </p:nvSpPr>
        <p:spPr>
          <a:xfrm>
            <a:off x="548640" y="475488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663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Apr 2025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834640" y="4663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Final rates: up to 168.8% Malaysia, 3,404% Cambodia; lines idled or moved again</a:t>
            </a:r>
            <a:endParaRPr lang="en-US" sz="1500" dirty="0"/>
          </a:p>
        </p:txBody>
      </p:sp>
      <p:sp>
        <p:nvSpPr>
          <p:cNvPr id="20" name="pattern panel"/>
          <p:cNvSpPr/>
          <p:nvPr/>
        </p:nvSpPr>
        <p:spPr>
          <a:xfrm>
            <a:off x="8138160" y="137160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12480" y="1737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years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Typical lag between an assembly-only relocation surge and the trade remedy that follows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US trade rules facing Malaysia today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 reciprocal tariff on Malaysian-origin goods (from August 2025)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 on goods found to be transhipped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168.8%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final US AD/CVD rate on Malaysian solar (April 2025)</a:t>
            </a:r>
            <a:endParaRPr lang="en-US" sz="1400" dirty="0"/>
          </a:p>
        </p:txBody>
      </p:sp>
      <p:sp>
        <p:nvSpPr>
          <p:cNvPr id="10" name="card October 2025 US–Malaysia agreement"/>
          <p:cNvSpPr/>
          <p:nvPr/>
        </p:nvSpPr>
        <p:spPr>
          <a:xfrm>
            <a:off x="54864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October 2025 US–Malaysia agreement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805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Malaysia cuts duties on some US goods and commits to align with US economic-security measures, including export controls.</a:t>
            </a:r>
            <a:endParaRPr lang="en-US" sz="1600" dirty="0"/>
          </a:p>
        </p:txBody>
      </p:sp>
      <p:sp>
        <p:nvSpPr>
          <p:cNvPr id="13" name="card Ownership now matters too"/>
          <p:cNvSpPr/>
          <p:nvPr/>
        </p:nvSpPr>
        <p:spPr>
          <a:xfrm>
            <a:off x="6217920" y="393192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Ownership now matters too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4805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FEOC and “prohibited foreign entity” rules look at who owns and controls a plant, not just where it 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Exercise B: total landed cost under tariff scenarios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Ex-works cost per module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US$100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Freight to US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US$6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Chinese-origin inputs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70%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Extra cost to raise local inputs to 50%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+US$8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marker 1"/>
          <p:cNvSpPr/>
          <p:nvPr/>
        </p:nvSpPr>
        <p:spPr>
          <a:xfrm>
            <a:off x="60350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035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720840" y="1371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Reciprocal tariff of 19%</a:t>
            </a:r>
            <a:endParaRPr lang="en-US" sz="1600" dirty="0"/>
          </a:p>
        </p:txBody>
      </p:sp>
      <p:sp>
        <p:nvSpPr>
          <p:cNvPr id="8" name="marker 2"/>
          <p:cNvSpPr/>
          <p:nvPr/>
        </p:nvSpPr>
        <p:spPr>
          <a:xfrm>
            <a:off x="6035040" y="21945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0350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720840" y="2148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Transhipment finding: 40%</a:t>
            </a:r>
            <a:endParaRPr lang="en-US" sz="1600" dirty="0"/>
          </a:p>
        </p:txBody>
      </p:sp>
      <p:sp>
        <p:nvSpPr>
          <p:cNvPr id="11" name="marker 3"/>
          <p:cNvSpPr/>
          <p:nvPr/>
        </p:nvSpPr>
        <p:spPr>
          <a:xfrm>
            <a:off x="6035040" y="29718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0350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AD/CVD order of 100%</a:t>
            </a:r>
            <a:endParaRPr lang="en-US" sz="1600" dirty="0"/>
          </a:p>
        </p:txBody>
      </p:sp>
      <p:sp>
        <p:nvSpPr>
          <p:cNvPr id="14" name="marker 4"/>
          <p:cNvSpPr/>
          <p:nvPr/>
        </p:nvSpPr>
        <p:spPr>
          <a:xfrm>
            <a:off x="6035040" y="3749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0350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37033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Localise to 50% local inputs, secure origin at 19%</a:t>
            </a:r>
            <a:endParaRPr lang="en-US" sz="1600" dirty="0"/>
          </a:p>
        </p:txBody>
      </p:sp>
      <p:sp>
        <p:nvSpPr>
          <p:cNvPr id="17" name="question panel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At what probability of scenario 2 or scenario 3 does the localisation in scenario 4 pay off?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Substantial transformation worksheet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  <a:gridCol w="310896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Process step (Li-ion cell)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Solar-style relocation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Cluster-style relocation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Origin weight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Cathode / anode materials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MY (Putailai, Yuneng)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High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Electrolyte, separator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MY (Capchem, Senior)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Medium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Electrode coating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CN or MY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High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Cell assembly and formation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High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Module / pack assembly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MY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Low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Equipment and first engineers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CN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n/a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Illustrative mapping. Real origin tests depend on the product, the tariff code and the importing country.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Cluster migration: batteries in Kedah and Johor (抱团出海)</a:t>
            </a:r>
            <a:endParaRPr lang="en-US" sz="3200" dirty="0"/>
          </a:p>
        </p:txBody>
      </p:sp>
      <p:sp>
        <p:nvSpPr>
          <p:cNvPr id="4" name="card EVE Energy · Kulim"/>
          <p:cNvSpPr/>
          <p:nvPr/>
        </p:nvSpPr>
        <p:spPr>
          <a:xfrm>
            <a:off x="548640" y="13716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DCEB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EVE Energy · Kulim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Cylindrical cells, ~680m/yr, producing since early 2025; US$1.2bn ESS plant announced June 2025</a:t>
            </a:r>
            <a:endParaRPr lang="en-US" sz="1500" dirty="0"/>
          </a:p>
        </p:txBody>
      </p:sp>
      <p:sp>
        <p:nvSpPr>
          <p:cNvPr id="7" name="card CosMX · Kulim"/>
          <p:cNvSpPr/>
          <p:nvPr/>
        </p:nvSpPr>
        <p:spPr>
          <a:xfrm>
            <a:off x="4297680" y="13716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DCEB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8056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CosMX · Kulim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920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RM1bn consumer and tool battery plant</a:t>
            </a:r>
            <a:endParaRPr lang="en-US" sz="1500" dirty="0"/>
          </a:p>
        </p:txBody>
      </p:sp>
      <p:sp>
        <p:nvSpPr>
          <p:cNvPr id="10" name="card Highstar / Pret · Johor"/>
          <p:cNvSpPr/>
          <p:nvPr/>
        </p:nvSpPr>
        <p:spPr>
          <a:xfrm>
            <a:off x="8046720" y="137160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DCEBE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Highstar / Pret · Johor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1920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2.5 GWh/yr cylindrical cells (Feb 2025)</a:t>
            </a:r>
            <a:endParaRPr lang="en-US" sz="1500" dirty="0"/>
          </a:p>
        </p:txBody>
      </p:sp>
      <p:sp>
        <p:nvSpPr>
          <p:cNvPr id="13" name="card Putailai · Gurun"/>
          <p:cNvSpPr/>
          <p:nvPr/>
        </p:nvSpPr>
        <p:spPr>
          <a:xfrm>
            <a:off x="548640" y="338328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152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Putailai · Gurun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931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US$297m, 50,000 t/yr anode base (Mar 2026)</a:t>
            </a:r>
            <a:endParaRPr lang="en-US" sz="1500" dirty="0"/>
          </a:p>
        </p:txBody>
      </p:sp>
      <p:sp>
        <p:nvSpPr>
          <p:cNvPr id="16" name="card Hunan Yuneng"/>
          <p:cNvSpPr/>
          <p:nvPr/>
        </p:nvSpPr>
        <p:spPr>
          <a:xfrm>
            <a:off x="4297680" y="338328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8056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Hunan Yuneng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3931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Cathode project, ~RM560m</a:t>
            </a:r>
            <a:endParaRPr lang="en-US" sz="1500" dirty="0"/>
          </a:p>
        </p:txBody>
      </p:sp>
      <p:sp>
        <p:nvSpPr>
          <p:cNvPr id="19" name="card Capchem, Senior, Tenpower, Enjie"/>
          <p:cNvSpPr/>
          <p:nvPr/>
        </p:nvSpPr>
        <p:spPr>
          <a:xfrm>
            <a:off x="8046720" y="338328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0" y="3520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Capchem, Senior, Tenpower, Enjie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931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Electrolyte, separator and structural parts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Not yet in Malaysia: large EV traction-cell plants. The cluster is weighted to tools, two-wheelers and energy storage.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Session 2 discussion</a:t>
            </a:r>
            <a:endParaRPr lang="en-US" sz="3200" dirty="0"/>
          </a:p>
        </p:txBody>
      </p:sp>
      <p:sp>
        <p:nvSpPr>
          <p:cNvPr id="4" name="marker 1"/>
          <p:cNvSpPr/>
          <p:nvPr/>
        </p:nvSpPr>
        <p:spPr>
          <a:xfrm>
            <a:off x="548640" y="148132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371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Is EVE Energy’s Kulim plant more or less exposed to trade remedies than the Chinese solar plants were? Why?</a:t>
            </a:r>
            <a:endParaRPr lang="en-US" sz="1700" dirty="0"/>
          </a:p>
        </p:txBody>
      </p:sp>
      <p:sp>
        <p:nvSpPr>
          <p:cNvPr id="7" name="marker 2"/>
          <p:cNvSpPr/>
          <p:nvPr/>
        </p:nvSpPr>
        <p:spPr>
          <a:xfrm>
            <a:off x="548640" y="267004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670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5603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Why does moving the supplier cluster matter for origin, not just for cost?</a:t>
            </a:r>
            <a:endParaRPr lang="en-US" sz="1700" dirty="0"/>
          </a:p>
        </p:txBody>
      </p:sp>
      <p:sp>
        <p:nvSpPr>
          <p:cNvPr id="10" name="marker 3"/>
          <p:cNvSpPr/>
          <p:nvPr/>
        </p:nvSpPr>
        <p:spPr>
          <a:xfrm>
            <a:off x="548640" y="385876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8587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3749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You run procurement at a European OEM considering a Chinese-owned Malaysian battery supplier. What due diligence do you add?</a:t>
            </a:r>
            <a:endParaRPr lang="en-US" sz="1700" dirty="0"/>
          </a:p>
        </p:txBody>
      </p:sp>
      <p:sp>
        <p:nvSpPr>
          <p:cNvPr id="13" name="marker 4"/>
          <p:cNvSpPr/>
          <p:nvPr/>
        </p:nvSpPr>
        <p:spPr>
          <a:xfrm>
            <a:off x="548640" y="504748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5047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937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Is “China+1” a stable equilibrium or a temporary arbitrage that trade policy will close?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Session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Geely × Proton: a capability-transplant turnaround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Cold call: you are Proton’s COO in 2017</a:t>
            </a:r>
            <a:endParaRPr lang="en-US" sz="3200" dirty="0"/>
          </a:p>
        </p:txBody>
      </p:sp>
      <p:sp>
        <p:nvSpPr>
          <p:cNvPr id="4" name="question panel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“Geely offers platforms, not cash, for 49.9% of your company. Do you accept?”</a:t>
            </a:r>
            <a:endParaRPr lang="en-US" sz="1800" dirty="0"/>
          </a:p>
        </p:txBody>
      </p:sp>
      <p:sp>
        <p:nvSpPr>
          <p:cNvPr id="6" name="card Proton in 2016"/>
          <p:cNvSpPr/>
          <p:nvPr/>
        </p:nvSpPr>
        <p:spPr>
          <a:xfrm>
            <a:off x="548640" y="3200400"/>
            <a:ext cx="34747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Proton in 2016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4904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~72,000 units produced, −30% y/y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~12% domestic share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~RM1bn loss</a:t>
            </a:r>
            <a:endParaRPr lang="en-US" sz="1600" dirty="0"/>
          </a:p>
        </p:txBody>
      </p:sp>
      <p:sp>
        <p:nvSpPr>
          <p:cNvPr id="9" name="card Root causes"/>
          <p:cNvSpPr/>
          <p:nvPr/>
        </p:nvSpPr>
        <p:spPr>
          <a:xfrm>
            <a:off x="4343400" y="3200400"/>
            <a:ext cx="34747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2628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Root causes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74904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Ageing platforms, R&amp;D too small to scale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Poor quality reputation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Fragmented supplier base</a:t>
            </a:r>
            <a:endParaRPr lang="en-US" sz="1600" dirty="0"/>
          </a:p>
        </p:txBody>
      </p:sp>
      <p:sp>
        <p:nvSpPr>
          <p:cNvPr id="12" name="card The trigger"/>
          <p:cNvSpPr/>
          <p:nvPr/>
        </p:nvSpPr>
        <p:spPr>
          <a:xfrm>
            <a:off x="8138160" y="3200400"/>
            <a:ext cx="34747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32104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The trigger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374904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RM1.5bn government soft loan (2016)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Condition: find a strategic foreign partner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Deal structure (May–June 2017)</a:t>
            </a:r>
            <a:endParaRPr lang="en-US" sz="3200" dirty="0"/>
          </a:p>
        </p:txBody>
      </p:sp>
      <p:sp>
        <p:nvSpPr>
          <p:cNvPr id="4" name="DRB share"/>
          <p:cNvSpPr/>
          <p:nvPr/>
        </p:nvSpPr>
        <p:spPr>
          <a:xfrm>
            <a:off x="548640" y="1463040"/>
            <a:ext cx="5522976" cy="1005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Geely share"/>
          <p:cNvSpPr/>
          <p:nvPr/>
        </p:nvSpPr>
        <p:spPr>
          <a:xfrm>
            <a:off x="6071616" y="1463040"/>
            <a:ext cx="5541264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DRB-HICOM 50.1%: control and national brand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254496" y="14630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Geely 49.9%: platforms and operations</a:t>
            </a:r>
            <a:endParaRPr lang="en-US" sz="1800" dirty="0"/>
          </a:p>
        </p:txBody>
      </p:sp>
      <p:sp>
        <p:nvSpPr>
          <p:cNvPr id="8" name="card Cash"/>
          <p:cNvSpPr/>
          <p:nvPr/>
        </p:nvSpPr>
        <p:spPr>
          <a:xfrm>
            <a:off x="548640" y="28346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Cash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3832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About RM170.3m of Geely equity investment</a:t>
            </a:r>
            <a:endParaRPr lang="en-US" sz="1600" dirty="0"/>
          </a:p>
        </p:txBody>
      </p:sp>
      <p:sp>
        <p:nvSpPr>
          <p:cNvPr id="11" name="card Technology"/>
          <p:cNvSpPr/>
          <p:nvPr/>
        </p:nvSpPr>
        <p:spPr>
          <a:xfrm>
            <a:off x="3364992" y="28346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47872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Technology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547872" y="33832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Boyue SUV platform (became the X70), valued at about RM290m; more platforms licensed later</a:t>
            </a:r>
            <a:endParaRPr lang="en-US" sz="1600" dirty="0"/>
          </a:p>
        </p:txBody>
      </p:sp>
      <p:sp>
        <p:nvSpPr>
          <p:cNvPr id="14" name="card Clean-up"/>
          <p:cNvSpPr/>
          <p:nvPr/>
        </p:nvSpPr>
        <p:spPr>
          <a:xfrm>
            <a:off x="6181344" y="28346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64224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Clean-up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64224" y="33832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RM1.2bn of non-car assets moved to DRB-HICOM; Proton repays RM567m</a:t>
            </a:r>
            <a:endParaRPr lang="en-US" sz="1600" dirty="0"/>
          </a:p>
        </p:txBody>
      </p:sp>
      <p:sp>
        <p:nvSpPr>
          <p:cNvPr id="17" name="card Lotus"/>
          <p:cNvSpPr/>
          <p:nvPr/>
        </p:nvSpPr>
        <p:spPr>
          <a:xfrm>
            <a:off x="8997696" y="2834640"/>
            <a:ext cx="2615184" cy="310896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80576" y="297180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Lotus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9180576" y="3383280"/>
            <a:ext cx="22494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Geely buys 51%; Etika Automotive takes 49%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turnaround levers</a:t>
            </a:r>
            <a:endParaRPr lang="en-US" sz="3200" dirty="0"/>
          </a:p>
        </p:txBody>
      </p:sp>
      <p:sp>
        <p:nvSpPr>
          <p:cNvPr id="4" name="lever Product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5" name="marker 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0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Product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86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Geely platforms fill every segment Proton could not afford to develop; Saga kept as the volume base</a:t>
            </a:r>
            <a:endParaRPr lang="en-US" sz="1500" dirty="0"/>
          </a:p>
        </p:txBody>
      </p:sp>
      <p:sp>
        <p:nvSpPr>
          <p:cNvPr id="9" name="lever Manufacturing and quality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marker 2"/>
          <p:cNvSpPr/>
          <p:nvPr/>
        </p:nvSpPr>
        <p:spPr>
          <a:xfrm>
            <a:off x="640080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1600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Manufacturing and quality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22860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Geely systems and audits at Tanjung Malim; Chinese executives run operations, then hand over (2021)</a:t>
            </a:r>
            <a:endParaRPr lang="en-US" sz="1500" dirty="0"/>
          </a:p>
        </p:txBody>
      </p:sp>
      <p:sp>
        <p:nvSpPr>
          <p:cNvPr id="14" name="lever Purchasing and suppliers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5" name="marker 3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Purchasing and suppliers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663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Fewer, larger vendors; Geely supplier-quality engineers; co-sourcing with 4m+ Geely volumes</a:t>
            </a:r>
            <a:endParaRPr lang="en-US" sz="1500" dirty="0"/>
          </a:p>
        </p:txBody>
      </p:sp>
      <p:sp>
        <p:nvSpPr>
          <p:cNvPr id="19" name="lever Distribution and brand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0" name="marker 4"/>
          <p:cNvSpPr/>
          <p:nvPr/>
        </p:nvSpPr>
        <p:spPr>
          <a:xfrm>
            <a:off x="6400800" y="3977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3977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Distribution and brand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178040" y="46634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3S/4S dealer upgrade; separate e.MAS EV brand; Proton International for exports (2025)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Product strategy: platforms in the gaps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19456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Launch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Geely base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X70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Dec 2018 (CBU); CKD from 2020 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Boyue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Proved the “Chinese platform + Proton badge” model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X50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Oct 2020 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Binyue / Coolray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Volume B-SUV at Proton prices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X90 / S70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2023 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Haoyue / Emgrand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7-seat hybrid; sedan replacement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e.MAS 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Late 2024 CBU; CKD Sept 2025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Galaxy E5 family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#1 EV in Malaysia, 5 months running in 2025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e.MAS 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2026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Geely EX2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RM57k–70k entry EV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30"/>
                          </a:solidFill>
                        </a:rPr>
                        <a:t>Saga, Persona, Iriz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Kept and refreshed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Proton in-house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B30"/>
                          </a:solidFill>
                        </a:rPr>
                        <a:t>Domestic “people’s car” base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Proton sales trajectory, 2014–2026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Low point"/>
          <p:cNvSpPr/>
          <p:nvPr/>
        </p:nvSpPr>
        <p:spPr>
          <a:xfrm>
            <a:off x="8686800" y="1280160"/>
            <a:ext cx="2926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869680" y="1417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Low point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8869680" y="182880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2018: about 65k units, the year the X70 launched</a:t>
            </a:r>
            <a:endParaRPr lang="en-US" sz="1600" dirty="0"/>
          </a:p>
        </p:txBody>
      </p:sp>
      <p:sp>
        <p:nvSpPr>
          <p:cNvPr id="8" name="card 2026 so far"/>
          <p:cNvSpPr/>
          <p:nvPr/>
        </p:nvSpPr>
        <p:spPr>
          <a:xfrm>
            <a:off x="8686800" y="3840480"/>
            <a:ext cx="29260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8696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2026 so far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869680" y="438912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160,886 units by September, already above all of 2025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Before and after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2016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08076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2025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9M 2026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Sales</a:t>
            </a:r>
            <a:endParaRPr lang="en-US" sz="1800" dirty="0"/>
          </a:p>
        </p:txBody>
      </p:sp>
      <p:sp>
        <p:nvSpPr>
          <p:cNvPr id="8" name="cell Sales0"/>
          <p:cNvSpPr/>
          <p:nvPr/>
        </p:nvSpPr>
        <p:spPr>
          <a:xfrm>
            <a:off x="3291840" y="192024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91840" y="19202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~72k</a:t>
            </a:r>
            <a:endParaRPr lang="en-US" sz="2600" dirty="0"/>
          </a:p>
        </p:txBody>
      </p:sp>
      <p:sp>
        <p:nvSpPr>
          <p:cNvPr id="10" name="cell Sales1"/>
          <p:cNvSpPr/>
          <p:nvPr/>
        </p:nvSpPr>
        <p:spPr>
          <a:xfrm>
            <a:off x="6080760" y="19202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D3E7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080760" y="19202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157,976</a:t>
            </a:r>
            <a:endParaRPr lang="en-US" sz="2600" dirty="0"/>
          </a:p>
        </p:txBody>
      </p:sp>
      <p:sp>
        <p:nvSpPr>
          <p:cNvPr id="12" name="cell Sales2"/>
          <p:cNvSpPr/>
          <p:nvPr/>
        </p:nvSpPr>
        <p:spPr>
          <a:xfrm>
            <a:off x="8869680" y="19202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BE7C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869680" y="19202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160,886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918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Domestic share</a:t>
            </a:r>
            <a:endParaRPr lang="en-US" sz="1800" dirty="0"/>
          </a:p>
        </p:txBody>
      </p:sp>
      <p:sp>
        <p:nvSpPr>
          <p:cNvPr id="15" name="cell Domestic share0"/>
          <p:cNvSpPr/>
          <p:nvPr/>
        </p:nvSpPr>
        <p:spPr>
          <a:xfrm>
            <a:off x="3291840" y="329184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9184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~12%</a:t>
            </a:r>
            <a:endParaRPr lang="en-US" sz="2600" dirty="0"/>
          </a:p>
        </p:txBody>
      </p:sp>
      <p:sp>
        <p:nvSpPr>
          <p:cNvPr id="17" name="cell Domestic share1"/>
          <p:cNvSpPr/>
          <p:nvPr/>
        </p:nvSpPr>
        <p:spPr>
          <a:xfrm>
            <a:off x="6080760" y="32918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D3E7E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8076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19.4%</a:t>
            </a:r>
            <a:endParaRPr lang="en-US" sz="2600" dirty="0"/>
          </a:p>
        </p:txBody>
      </p:sp>
      <p:sp>
        <p:nvSpPr>
          <p:cNvPr id="19" name="cell Domestic share2"/>
          <p:cNvSpPr/>
          <p:nvPr/>
        </p:nvSpPr>
        <p:spPr>
          <a:xfrm>
            <a:off x="8869680" y="32918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BE7C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86968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~26–27%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6634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Exports</a:t>
            </a:r>
            <a:endParaRPr lang="en-US" sz="1800" dirty="0"/>
          </a:p>
        </p:txBody>
      </p:sp>
      <p:sp>
        <p:nvSpPr>
          <p:cNvPr id="22" name="cell Exports0"/>
          <p:cNvSpPr/>
          <p:nvPr/>
        </p:nvSpPr>
        <p:spPr>
          <a:xfrm>
            <a:off x="3291840" y="466344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291840" y="4663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negligible</a:t>
            </a:r>
            <a:endParaRPr lang="en-US" sz="2600" dirty="0"/>
          </a:p>
        </p:txBody>
      </p:sp>
      <p:sp>
        <p:nvSpPr>
          <p:cNvPr id="24" name="cell Exports1"/>
          <p:cNvSpPr/>
          <p:nvPr/>
        </p:nvSpPr>
        <p:spPr>
          <a:xfrm>
            <a:off x="6080760" y="46634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D3E7E8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080760" y="4663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~6,000</a:t>
            </a:r>
            <a:endParaRPr lang="en-US" sz="2600" dirty="0"/>
          </a:p>
        </p:txBody>
      </p:sp>
      <p:sp>
        <p:nvSpPr>
          <p:cNvPr id="26" name="cell Exports2"/>
          <p:cNvSpPr/>
          <p:nvPr/>
        </p:nvSpPr>
        <p:spPr>
          <a:xfrm>
            <a:off x="8869680" y="466344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BE7C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869680" y="4663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monthly highs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Targets: 200,000 units in 2026; overtake Perodua as #1 by 2029.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AHTV: from turnaround to regional export hub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RM32bn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DRB-HICOM–Geely Automotive High-Tech Valley, Tanjung Malim, over ~10 years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2331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Vehicles a year targeted by 2035, about half for export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371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 → 45k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331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Proton EV plant capacity: phase 1 (opened Sept 2025) to phase 2</a:t>
            </a:r>
            <a:endParaRPr lang="en-US" sz="1400" dirty="0"/>
          </a:p>
        </p:txBody>
      </p:sp>
      <p:sp>
        <p:nvSpPr>
          <p:cNvPr id="10" name="card In place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 place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3891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Proton EV plant open; e.MAS 7 CKD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Zeekr local assembly announced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Shah Alam production moving to Tanjung Malim</a:t>
            </a:r>
            <a:endParaRPr lang="en-US" sz="1600" dirty="0"/>
          </a:p>
        </p:txBody>
      </p:sp>
      <p:sp>
        <p:nvSpPr>
          <p:cNvPr id="13" name="card Next door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Next door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3891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BYD’s own CKD plant, ~600,000 m², due 2H2026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Tanjung Malim becomes a Chinese-technology auto cluster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Risks and criticisms</a:t>
            </a:r>
            <a:endParaRPr lang="en-US" sz="3200" dirty="0"/>
          </a:p>
        </p:txBody>
      </p:sp>
      <p:sp>
        <p:nvSpPr>
          <p:cNvPr id="4" name="risk Technology dependency"/>
          <p:cNvSpPr/>
          <p:nvPr/>
        </p:nvSpPr>
        <p:spPr>
          <a:xfrm>
            <a:off x="548640" y="137160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6E3E4"/>
          </a:solidFill>
          <a:ln/>
        </p:spPr>
      </p:sp>
      <p:sp>
        <p:nvSpPr>
          <p:cNvPr id="5" name="marker !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!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Technology dependency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Nearly every competitive model is Geely-derived</a:t>
            </a:r>
            <a:endParaRPr lang="en-US" sz="1600" dirty="0"/>
          </a:p>
        </p:txBody>
      </p:sp>
      <p:sp>
        <p:nvSpPr>
          <p:cNvPr id="9" name="risk Low EV local content"/>
          <p:cNvSpPr/>
          <p:nvPr/>
        </p:nvSpPr>
        <p:spPr>
          <a:xfrm>
            <a:off x="4297680" y="137160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6E3E4"/>
          </a:solidFill>
          <a:ln/>
        </p:spPr>
      </p:sp>
      <p:sp>
        <p:nvSpPr>
          <p:cNvPr id="10" name="marker !"/>
          <p:cNvSpPr/>
          <p:nvPr/>
        </p:nvSpPr>
        <p:spPr>
          <a:xfrm>
            <a:off x="448056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80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!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Low EV local content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Cells, motors, power electronics still from China</a:t>
            </a:r>
            <a:endParaRPr lang="en-US" sz="1600" dirty="0"/>
          </a:p>
        </p:txBody>
      </p:sp>
      <p:sp>
        <p:nvSpPr>
          <p:cNvPr id="14" name="risk Cannibalisation"/>
          <p:cNvSpPr/>
          <p:nvPr/>
        </p:nvSpPr>
        <p:spPr>
          <a:xfrm>
            <a:off x="8046720" y="137160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6E3E4"/>
          </a:solidFill>
          <a:ln/>
        </p:spPr>
      </p:sp>
      <p:sp>
        <p:nvSpPr>
          <p:cNvPr id="15" name="marker !"/>
          <p:cNvSpPr/>
          <p:nvPr/>
        </p:nvSpPr>
        <p:spPr>
          <a:xfrm>
            <a:off x="822960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!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239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Cannibalisation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Geely’s own brands compete with Proton in Malaysia</a:t>
            </a:r>
            <a:endParaRPr lang="en-US" sz="1600" dirty="0"/>
          </a:p>
        </p:txBody>
      </p:sp>
      <p:sp>
        <p:nvSpPr>
          <p:cNvPr id="19" name="risk Market ceiling"/>
          <p:cNvSpPr/>
          <p:nvPr/>
        </p:nvSpPr>
        <p:spPr>
          <a:xfrm>
            <a:off x="548640" y="374904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6E3E4"/>
          </a:solidFill>
          <a:ln/>
        </p:spPr>
      </p:sp>
      <p:sp>
        <p:nvSpPr>
          <p:cNvPr id="20" name="marker !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!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Market ceiling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~815k-unit home market; 10+ Chinese brands</a:t>
            </a:r>
            <a:endParaRPr lang="en-US" sz="1600" dirty="0"/>
          </a:p>
        </p:txBody>
      </p:sp>
      <p:sp>
        <p:nvSpPr>
          <p:cNvPr id="24" name="risk Trade and geopolitics"/>
          <p:cNvSpPr/>
          <p:nvPr/>
        </p:nvSpPr>
        <p:spPr>
          <a:xfrm>
            <a:off x="4297680" y="374904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6E3E4"/>
          </a:solidFill>
          <a:ln/>
        </p:spPr>
      </p:sp>
      <p:sp>
        <p:nvSpPr>
          <p:cNvPr id="25" name="marker !"/>
          <p:cNvSpPr/>
          <p:nvPr/>
        </p:nvSpPr>
        <p:spPr>
          <a:xfrm>
            <a:off x="4480560" y="3931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4805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!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7492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Trade and geopolitics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Origin and security scrutiny of Chinese-platform exports</a:t>
            </a:r>
            <a:endParaRPr lang="en-US" sz="1600" dirty="0"/>
          </a:p>
        </p:txBody>
      </p:sp>
      <p:sp>
        <p:nvSpPr>
          <p:cNvPr id="29" name="risk Margins and politics"/>
          <p:cNvSpPr/>
          <p:nvPr/>
        </p:nvSpPr>
        <p:spPr>
          <a:xfrm>
            <a:off x="8046720" y="374904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6E3E4"/>
          </a:solidFill>
          <a:ln/>
        </p:spPr>
      </p:sp>
      <p:sp>
        <p:nvSpPr>
          <p:cNvPr id="30" name="marker !"/>
          <p:cNvSpPr/>
          <p:nvPr/>
        </p:nvSpPr>
        <p:spPr>
          <a:xfrm>
            <a:off x="8229600" y="3931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2296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!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82396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Margins and politics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Price leadership squeezes margins; national-car politics persist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Exercise C: learning curve and the CKD switch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Labour-hours, first CKD vehicle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100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Learning rate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90%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Target labour-hours per vehicle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Phase-1 production rate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20,000 vehicles / year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 Questions"/>
          <p:cNvSpPr/>
          <p:nvPr/>
        </p:nvSpPr>
        <p:spPr>
          <a:xfrm>
            <a:off x="6400800" y="1371600"/>
            <a:ext cx="521208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Questions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19202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Labour-hours for unit 1,000 and unit 10,000?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which unit does the plant reach 30 hours?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many months is that at the phase-1 rate?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learning or supplier localisation the real constraint? What does that mean for timing the CBU → CKD switch before the duty exemption ends?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Exercise D: AHTV capacity break-even</a:t>
            </a:r>
            <a:endParaRPr lang="en-US" sz="3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17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Plant capacity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500,000 vehicles / year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Fixed costs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RM1.8bn / year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Contribution margin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RM6,000 / vehicle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Malaysian market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~815,000 vehicles / year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Geely-group domestic share (base)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25%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C2B30"/>
                          </a:solidFill>
                        </a:rPr>
                        <a:t>2025 exports (actual)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B30"/>
                          </a:solidFill>
                        </a:rPr>
                        <a:t>~6,000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 Questions"/>
          <p:cNvSpPr/>
          <p:nvPr/>
        </p:nvSpPr>
        <p:spPr>
          <a:xfrm>
            <a:off x="6400800" y="1371600"/>
            <a:ext cx="521208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58368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Questions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19202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Break-even volume and implied utilisation?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Exports needed to break even, vs ~6,000 today?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Sensitivity: domestic share falls to 18% in the price war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would have to be true for AHTV to work?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Debate: “A Malaysian badge on a Chinese car”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Motion: “Proton in 2026 is a Malaysian badge on a Chinese car.”</a:t>
            </a:r>
            <a:endParaRPr lang="en-US" sz="1800" dirty="0"/>
          </a:p>
        </p:txBody>
      </p:sp>
      <p:sp>
        <p:nvSpPr>
          <p:cNvPr id="5" name="card For the motion"/>
          <p:cNvSpPr/>
          <p:nvPr/>
        </p:nvSpPr>
        <p:spPr>
          <a:xfrm>
            <a:off x="548640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For the motion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Almost every competitive model is a Geely platform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 cells, motors and electronics come from China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In-house R&amp;D has narrowed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Little to fall back on if the partnership fails</a:t>
            </a:r>
            <a:endParaRPr lang="en-US" sz="1600" dirty="0"/>
          </a:p>
        </p:txBody>
      </p:sp>
      <p:sp>
        <p:nvSpPr>
          <p:cNvPr id="8" name="card Against the motion"/>
          <p:cNvSpPr/>
          <p:nvPr/>
        </p:nvSpPr>
        <p:spPr>
          <a:xfrm>
            <a:off x="6217920" y="192024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Against the motion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46888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Majority Malaysian ownership and leadership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Local plant, suppliers, dealers and jobs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Saga and local models remain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Engine plant now builds hybrid and EV components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Frame the debate around operations trade-offs, not national loyalties.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Wrap-up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Key lessons and research agenda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Ten key lessons</a:t>
            </a:r>
            <a:endParaRPr lang="en-US" sz="3200" dirty="0"/>
          </a:p>
        </p:txBody>
      </p:sp>
      <p:sp>
        <p:nvSpPr>
          <p:cNvPr id="4" name="marker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371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Relocation ≠ diversification: map location, ownership, input origin, technology origin</a:t>
            </a:r>
            <a:endParaRPr lang="en-US" sz="1600" dirty="0"/>
          </a:p>
        </p:txBody>
      </p:sp>
      <p:sp>
        <p:nvSpPr>
          <p:cNvPr id="7" name="marker 2"/>
          <p:cNvSpPr/>
          <p:nvPr/>
        </p:nvSpPr>
        <p:spPr>
          <a:xfrm>
            <a:off x="548640" y="23957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3042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Landed cost must include policy risk</a:t>
            </a:r>
            <a:endParaRPr lang="en-US" sz="1600" dirty="0"/>
          </a:p>
        </p:txBody>
      </p:sp>
      <p:sp>
        <p:nvSpPr>
          <p:cNvPr id="10" name="marker 3"/>
          <p:cNvSpPr/>
          <p:nvPr/>
        </p:nvSpPr>
        <p:spPr>
          <a:xfrm>
            <a:off x="548640" y="332841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23697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Origin is earned through process, not paperwork</a:t>
            </a:r>
            <a:endParaRPr lang="en-US" sz="1600" dirty="0"/>
          </a:p>
        </p:txBody>
      </p:sp>
      <p:sp>
        <p:nvSpPr>
          <p:cNvPr id="13" name="marker 4"/>
          <p:cNvSpPr/>
          <p:nvPr/>
        </p:nvSpPr>
        <p:spPr>
          <a:xfrm>
            <a:off x="548640" y="426110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416966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Location advantages decay</a:t>
            </a:r>
            <a:endParaRPr lang="en-US" sz="1600" dirty="0"/>
          </a:p>
        </p:txBody>
      </p:sp>
      <p:sp>
        <p:nvSpPr>
          <p:cNvPr id="16" name="marker 5"/>
          <p:cNvSpPr/>
          <p:nvPr/>
        </p:nvSpPr>
        <p:spPr>
          <a:xfrm>
            <a:off x="548640" y="51937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5102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Cluster migration beats single-firm migration</a:t>
            </a:r>
            <a:endParaRPr lang="en-US" sz="1600" dirty="0"/>
          </a:p>
        </p:txBody>
      </p:sp>
      <p:sp>
        <p:nvSpPr>
          <p:cNvPr id="19" name="marker 6"/>
          <p:cNvSpPr/>
          <p:nvPr/>
        </p:nvSpPr>
        <p:spPr>
          <a:xfrm>
            <a:off x="617220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172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1371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Turnarounds are mostly about operations</a:t>
            </a:r>
            <a:endParaRPr lang="en-US" sz="1600" dirty="0"/>
          </a:p>
        </p:txBody>
      </p:sp>
      <p:sp>
        <p:nvSpPr>
          <p:cNvPr id="22" name="marker 7"/>
          <p:cNvSpPr/>
          <p:nvPr/>
        </p:nvSpPr>
        <p:spPr>
          <a:xfrm>
            <a:off x="6172200" y="23957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17220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23042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Phased localisation manages the learning curve</a:t>
            </a:r>
            <a:endParaRPr lang="en-US" sz="1600" dirty="0"/>
          </a:p>
        </p:txBody>
      </p:sp>
      <p:sp>
        <p:nvSpPr>
          <p:cNvPr id="25" name="marker 8"/>
          <p:cNvSpPr/>
          <p:nvPr/>
        </p:nvSpPr>
        <p:spPr>
          <a:xfrm>
            <a:off x="6172200" y="332841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7220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323697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Capability transfer has a cost: dependency</a:t>
            </a:r>
            <a:endParaRPr lang="en-US" sz="1600" dirty="0"/>
          </a:p>
        </p:txBody>
      </p:sp>
      <p:sp>
        <p:nvSpPr>
          <p:cNvPr id="28" name="marker 9"/>
          <p:cNvSpPr/>
          <p:nvPr/>
        </p:nvSpPr>
        <p:spPr>
          <a:xfrm>
            <a:off x="6172200" y="426110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17220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903720" y="416966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Capacity must match the reachable market</a:t>
            </a:r>
            <a:endParaRPr lang="en-US" sz="1600" dirty="0"/>
          </a:p>
        </p:txBody>
      </p:sp>
      <p:sp>
        <p:nvSpPr>
          <p:cNvPr id="31" name="marker 10"/>
          <p:cNvSpPr/>
          <p:nvPr/>
        </p:nvSpPr>
        <p:spPr>
          <a:xfrm>
            <a:off x="6172200" y="519379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5102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Governance design is an operational tool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Research agenda</a:t>
            </a:r>
            <a:endParaRPr lang="en-US" sz="3200" dirty="0"/>
          </a:p>
        </p:txBody>
      </p:sp>
      <p:sp>
        <p:nvSpPr>
          <p:cNvPr id="4" name="card Trade and relocation"/>
          <p:cNvSpPr/>
          <p:nvPr/>
        </p:nvSpPr>
        <p:spPr>
          <a:xfrm>
            <a:off x="548640" y="1371600"/>
            <a:ext cx="3474720" cy="4663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Trade and relocation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value-add or re-routed Chinese inputs? (TiVA, Comtrade, BACI)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How fast do trade remedies follow export surges?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Ownership rules (FEOC) and the value of offshore plants</a:t>
            </a:r>
            <a:endParaRPr lang="en-US" sz="1600" dirty="0"/>
          </a:p>
        </p:txBody>
      </p:sp>
      <p:sp>
        <p:nvSpPr>
          <p:cNvPr id="7" name="card Operations and strategy"/>
          <p:cNvSpPr/>
          <p:nvPr/>
        </p:nvSpPr>
        <p:spPr>
          <a:xfrm>
            <a:off x="4343400" y="1371600"/>
            <a:ext cx="3474720" cy="4663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2628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Operations and strategy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92024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Entry modes compared: Proton, BYD, Chery, GWM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Supplier development spillovers since 2017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Does licensing build or erode R&amp;D capacity?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Sequence and lag of cluster migration</a:t>
            </a:r>
            <a:endParaRPr lang="en-US" sz="1600" dirty="0"/>
          </a:p>
        </p:txBody>
      </p:sp>
      <p:sp>
        <p:nvSpPr>
          <p:cNvPr id="10" name="card Risk and sustainability"/>
          <p:cNvSpPr/>
          <p:nvPr/>
        </p:nvSpPr>
        <p:spPr>
          <a:xfrm>
            <a:off x="8138160" y="1371600"/>
            <a:ext cx="3474720" cy="4663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2104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Risk and sustainability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192024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When do Johor’s grid and water limits bind?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a host country stay neutral?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diversification index that counts ownership and input origin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Sources and caveats</a:t>
            </a:r>
            <a:endParaRPr lang="en-US" sz="3200" dirty="0"/>
          </a:p>
        </p:txBody>
      </p:sp>
      <p:sp>
        <p:nvSpPr>
          <p:cNvPr id="4" name="card Main sources"/>
          <p:cNvSpPr/>
          <p:nvPr/>
        </p:nvSpPr>
        <p:spPr>
          <a:xfrm>
            <a:off x="548640" y="1371600"/>
            <a:ext cx="603504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508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Main sources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6692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MIDA and MITI releases on approved investment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Company announcements via CnEVPost, Yicai, Battery-News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Malaysian auto press: WapCar, Carlist, Autobuzz, Zigwheels, Business Today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JLL, Knight Frank, Cushman &amp; Wakefield data-centre reports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SCMP, Malay Mail, Bernama on chip permits and US tariffs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NST and Anadolu on US solar duties</a:t>
            </a:r>
            <a:endParaRPr lang="en-US" sz="1600" dirty="0"/>
          </a:p>
        </p:txBody>
      </p:sp>
      <p:sp>
        <p:nvSpPr>
          <p:cNvPr id="7" name="card Caveats"/>
          <p:cNvSpPr/>
          <p:nvPr/>
        </p:nvSpPr>
        <p:spPr>
          <a:xfrm>
            <a:off x="6858000" y="1371600"/>
            <a:ext cx="475488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4088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Caveats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1920240"/>
            <a:ext cx="4389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Figures marked † are approximate and not re-verified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Data-centre figures mix live, under-construction and planned capacity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Exercise numbers are illustrative, not company data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Compiled October 2026 with AI assistance; verify before teaching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na to Malaysia OM">
  <a:themeElements>
    <a:clrScheme name="China to Malaysia OM">
      <a:dk1>
        <a:srgbClr val="1C2B30"/>
      </a:dk1>
      <a:lt1>
        <a:srgbClr val="FFFFFF"/>
      </a:lt1>
      <a:dk2>
        <a:srgbClr val="0B3C49"/>
      </a:dk2>
      <a:lt2>
        <a:srgbClr val="EAF1F2"/>
      </a:lt2>
      <a:accent1>
        <a:srgbClr val="0F7173"/>
      </a:accent1>
      <a:accent2>
        <a:srgbClr val="E89B2F"/>
      </a:accent2>
      <a:accent3>
        <a:srgbClr val="C2454F"/>
      </a:accent3>
      <a:accent4>
        <a:srgbClr val="5B7F95"/>
      </a:accent4>
      <a:accent5>
        <a:srgbClr val="8AA899"/>
      </a:accent5>
      <a:accent6>
        <a:srgbClr val="3D5A80"/>
      </a:accent6>
      <a:hlink>
        <a:srgbClr val="0F7173"/>
      </a:hlink>
      <a:folHlink>
        <a:srgbClr val="5B7F95"/>
      </a:folHlink>
    </a:clrScheme>
    <a:fontScheme name="China to Malaysia O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to Malaysia supply-chain shift: OM module</dc:title>
  <dc:subject>PptxGenJS Presentation</dc:subject>
  <dc:creator>OM course</dc:creator>
  <cp:lastModifiedBy>OM course</cp:lastModifiedBy>
  <cp:revision>1</cp:revision>
  <dcterms:created xsi:type="dcterms:W3CDTF">2026-10-17T06:38:15Z</dcterms:created>
  <dcterms:modified xsi:type="dcterms:W3CDTF">2026-10-17T06:38:15Z</dcterms:modified>
</cp:coreProperties>
</file>